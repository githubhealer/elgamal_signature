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30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70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306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72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8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26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81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26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65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55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318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740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684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777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83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69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351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4A6F808-6091-4C6B-9638-CEB0A4CEC193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E475C27-D721-41F0-AFA3-D2E0AB747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0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6552-4AB9-68FF-858A-09CB800EC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297" y="1219200"/>
            <a:ext cx="8825658" cy="2677648"/>
          </a:xfrm>
        </p:spPr>
        <p:txBody>
          <a:bodyPr/>
          <a:lstStyle/>
          <a:p>
            <a:r>
              <a:rPr lang="en-US" sz="4800" b="1" dirty="0">
                <a:latin typeface="Agency FB" panose="020B0503020202020204" pitchFamily="34" charset="0"/>
              </a:rPr>
              <a:t>Elgamal Signature with Invalid Random k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A39C8-C7BC-DF4F-3712-EF718762A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070555"/>
            <a:ext cx="8825658" cy="156824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Project report - </a:t>
            </a:r>
            <a:r>
              <a:rPr lang="en-US" b="1" dirty="0"/>
              <a:t>BCSE309L Cryptography and Network Security</a:t>
            </a:r>
          </a:p>
          <a:p>
            <a:pPr algn="r"/>
            <a:r>
              <a:rPr lang="en-US" b="1" dirty="0"/>
              <a:t>By</a:t>
            </a:r>
          </a:p>
          <a:p>
            <a:pPr algn="r"/>
            <a:r>
              <a:rPr lang="en-US" dirty="0"/>
              <a:t>Sandeep Ganesh (23BRS1076)</a:t>
            </a:r>
            <a:endParaRPr lang="en-IN" dirty="0"/>
          </a:p>
          <a:p>
            <a:pPr algn="r"/>
            <a:r>
              <a:rPr lang="en-US" dirty="0"/>
              <a:t>Subal V R (23BRS1393)</a:t>
            </a:r>
            <a:endParaRPr lang="en-IN" dirty="0"/>
          </a:p>
          <a:p>
            <a:pPr algn="r"/>
            <a:r>
              <a:rPr lang="en-US" dirty="0" err="1"/>
              <a:t>Arumuga</a:t>
            </a:r>
            <a:r>
              <a:rPr lang="en-US" dirty="0"/>
              <a:t> Selvan (23BRS1317)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850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2E3D3-CAA7-DF30-3ABC-8E6A9A69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77C16-8685-E626-6E32-282502A96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Elgamal digital signature scheme is a classical public-key cryptographic mechanism</a:t>
            </a:r>
          </a:p>
          <a:p>
            <a:r>
              <a:rPr lang="en-IN" sz="2000" dirty="0"/>
              <a:t>Strength of this algorithm - computational hardness of the discrete logarithm problem. </a:t>
            </a:r>
          </a:p>
          <a:p>
            <a:r>
              <a:rPr lang="en-IN" sz="2000" dirty="0"/>
              <a:t>Weakness of this algorithm – choosing invalid ephemeral key or reusing the key.</a:t>
            </a:r>
          </a:p>
          <a:p>
            <a:r>
              <a:rPr lang="en-IN" sz="2000" dirty="0"/>
              <a:t>Ppt explains the work done on exploring the failure of the Elgamal’s Digital Signature Scheme when using invalid ephemeral key (‘k’).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0238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C0C5-E88F-51D6-562D-7273369D1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Elgamal Signature Scheme - 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48194-13A4-DF63-B4DD-4BBC7D8354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Digital signature - Used for authentication, integrity, and non-repudiation.</a:t>
                </a:r>
              </a:p>
              <a:p>
                <a:r>
                  <a:rPr lang="en-US" sz="2000" dirty="0"/>
                  <a:t>Ex. Elgamal DSS, </a:t>
                </a:r>
                <a:r>
                  <a:rPr lang="en-IN" sz="2000" dirty="0"/>
                  <a:t>RSA (integer factorization), DSA (discrete logarithm), ECDSA (elliptic curve) etc.</a:t>
                </a:r>
                <a:endParaRPr lang="en-US" sz="2000" dirty="0"/>
              </a:p>
              <a:p>
                <a:r>
                  <a:rPr lang="en-IN" sz="2000" b="1" dirty="0"/>
                  <a:t>Uniqueness</a:t>
                </a:r>
                <a:r>
                  <a:rPr lang="en-IN" sz="2000" dirty="0"/>
                  <a:t> of Elgamal’ DSS:</a:t>
                </a:r>
              </a:p>
              <a:p>
                <a:pPr lvl="1"/>
                <a:r>
                  <a:rPr lang="en-IN" sz="1800" dirty="0"/>
                  <a:t> </a:t>
                </a:r>
                <a:r>
                  <a:rPr lang="en-US" sz="1800" dirty="0"/>
                  <a:t>use of a </a:t>
                </a:r>
                <a:r>
                  <a:rPr lang="en-US" sz="1800" b="1" dirty="0"/>
                  <a:t>fresh random nonce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1" dirty="0"/>
                  <a:t>for every signature</a:t>
                </a:r>
                <a:r>
                  <a:rPr lang="en-US" sz="1800" dirty="0"/>
                  <a:t>, making each signature </a:t>
                </a:r>
                <a:r>
                  <a:rPr lang="en-US" sz="1800" b="1" dirty="0"/>
                  <a:t>probabilistic (non-deterministic)</a:t>
                </a:r>
                <a:r>
                  <a:rPr lang="en-US" sz="1800" dirty="0"/>
                  <a:t>—even the same message signed twice produces different signatures.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48194-13A4-DF63-B4DD-4BBC7D835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 t="-8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981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B358-2A62-7389-C0E4-205C2EA3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Basic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DCE4-CCD9-3820-B7C0-66DF54D2E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Each signature must use a fresh k.</a:t>
            </a:r>
          </a:p>
          <a:p>
            <a:r>
              <a:rPr lang="en-IN" sz="2000" dirty="0"/>
              <a:t>Value of ‘k’ should be such that </a:t>
            </a:r>
            <a:r>
              <a:rPr lang="en-IN" sz="2000" dirty="0" err="1"/>
              <a:t>gcd</a:t>
            </a:r>
            <a:r>
              <a:rPr lang="en-IN" sz="2000" dirty="0"/>
              <a:t>(k, p-1) =1, so that k</a:t>
            </a:r>
            <a:r>
              <a:rPr lang="en-IN" sz="2000" baseline="30000" dirty="0"/>
              <a:t>-1</a:t>
            </a:r>
            <a:r>
              <a:rPr lang="en-IN" sz="2000" dirty="0"/>
              <a:t> (modular inverse of k) exists.</a:t>
            </a:r>
          </a:p>
          <a:p>
            <a:r>
              <a:rPr lang="en-US" sz="2000" dirty="0"/>
              <a:t>Effects of using invalid ‘k’: </a:t>
            </a:r>
          </a:p>
          <a:p>
            <a:pPr lvl="1"/>
            <a:r>
              <a:rPr lang="en-US" sz="1800" dirty="0"/>
              <a:t>The signing process may fail because the inverse does not exist</a:t>
            </a:r>
          </a:p>
          <a:p>
            <a:pPr lvl="1"/>
            <a:r>
              <a:rPr lang="en-US" sz="1800" dirty="0"/>
              <a:t>it may produce signatures that behave unpredictably and open the door to forgery</a:t>
            </a:r>
            <a:endParaRPr lang="en-IN" sz="1800" dirty="0"/>
          </a:p>
          <a:p>
            <a:pPr lvl="1"/>
            <a:r>
              <a:rPr lang="en-IN" sz="1800" dirty="0"/>
              <a:t>The system becomes unreliable.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9674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9FFB-0A88-DCF4-4930-BC54FD0FA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5D94F-7746-D854-E00B-F08A54247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Implementation of Elgamal signature scheme in Python</a:t>
            </a:r>
          </a:p>
          <a:p>
            <a:r>
              <a:rPr lang="en-IN" sz="2800" dirty="0"/>
              <a:t>Allowing invalid ‘k’ to observe failures</a:t>
            </a:r>
          </a:p>
          <a:p>
            <a:r>
              <a:rPr lang="en-IN" sz="2800" dirty="0"/>
              <a:t>Reusing ‘k’ to find out the gaps</a:t>
            </a:r>
          </a:p>
          <a:p>
            <a:r>
              <a:rPr lang="en-IN" sz="2800" dirty="0"/>
              <a:t>Adding validation and generating report</a:t>
            </a:r>
          </a:p>
        </p:txBody>
      </p:sp>
    </p:spTree>
    <p:extLst>
      <p:ext uri="{BB962C8B-B14F-4D97-AF65-F5344CB8AC3E}">
        <p14:creationId xmlns:p14="http://schemas.microsoft.com/office/powerpoint/2010/main" val="682414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9071-0485-8F68-9527-736DDAAC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Mathematical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45E04-7A33-207E-1E22-F59262D72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Variables</a:t>
            </a:r>
            <a:r>
              <a:rPr lang="en-IN" sz="2400" dirty="0"/>
              <a:t>:</a:t>
            </a:r>
          </a:p>
          <a:p>
            <a:pPr lvl="1"/>
            <a:r>
              <a:rPr lang="en-IN" sz="2000" dirty="0"/>
              <a:t>p-prime </a:t>
            </a:r>
            <a:r>
              <a:rPr lang="en-IN" sz="2000" dirty="0" err="1"/>
              <a:t>num</a:t>
            </a:r>
            <a:r>
              <a:rPr lang="en-IN" sz="2000" dirty="0"/>
              <a:t>, g- generator, x-private key, y=public key,  k-ephemeral key,       H(M)-Hash of the Message M</a:t>
            </a:r>
          </a:p>
          <a:p>
            <a:r>
              <a:rPr lang="en-IN" sz="2400" dirty="0"/>
              <a:t> </a:t>
            </a:r>
            <a:r>
              <a:rPr lang="en-IN" sz="2400" b="1" dirty="0"/>
              <a:t>Assumptions</a:t>
            </a:r>
            <a:r>
              <a:rPr lang="en-IN" sz="2400" dirty="0"/>
              <a:t>:</a:t>
            </a:r>
          </a:p>
          <a:p>
            <a:pPr lvl="1"/>
            <a:r>
              <a:rPr lang="en-US" sz="2000" dirty="0"/>
              <a:t>given </a:t>
            </a:r>
            <a:r>
              <a:rPr lang="en-US" sz="2000" dirty="0" err="1"/>
              <a:t>g</a:t>
            </a:r>
            <a:r>
              <a:rPr lang="en-US" sz="2000" baseline="30000" dirty="0" err="1"/>
              <a:t>a</a:t>
            </a:r>
            <a:r>
              <a:rPr lang="en-US" sz="2000" dirty="0" err="1"/>
              <a:t>mod</a:t>
            </a:r>
            <a:r>
              <a:rPr lang="en-US" sz="2000" dirty="0"/>
              <a:t> p, a cannot be found in polynomial time</a:t>
            </a:r>
          </a:p>
          <a:p>
            <a:pPr lvl="1"/>
            <a:r>
              <a:rPr lang="en-US" sz="2000" dirty="0"/>
              <a:t>The hash function is collision-resistant</a:t>
            </a:r>
            <a:endParaRPr lang="en-IN" sz="2000" dirty="0"/>
          </a:p>
          <a:p>
            <a:pPr marL="0" indent="0">
              <a:buNone/>
            </a:pPr>
            <a:r>
              <a:rPr lang="en-IN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4753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5C38-59F7-B1CA-B277-FF08612A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Mathematical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6E285-2422-13D6-A333-0D3BFBF72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Equations used: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05147-5D19-8D78-B3A9-45F766B2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68" y="2603500"/>
            <a:ext cx="4276535" cy="350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0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7050-24A9-F9AB-5DA6-4B4625B2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Mathematical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31363-6272-4CDE-79BD-8AF7EFB34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Signature Generation </a:t>
            </a:r>
            <a:r>
              <a:rPr lang="en-IN" sz="2000" dirty="0"/>
              <a:t>– converts </a:t>
            </a:r>
            <a:r>
              <a:rPr lang="en-US" sz="2000" dirty="0"/>
              <a:t>primary key x and message hash H into verifiable signature pair (</a:t>
            </a:r>
            <a:r>
              <a:rPr lang="en-US" sz="2000" dirty="0" err="1"/>
              <a:t>r,s</a:t>
            </a:r>
            <a:r>
              <a:rPr lang="en-US" sz="2000" dirty="0"/>
              <a:t>)</a:t>
            </a:r>
            <a:endParaRPr lang="en-IN" sz="2000" dirty="0"/>
          </a:p>
          <a:p>
            <a:pPr lvl="1"/>
            <a:r>
              <a:rPr lang="en-US" sz="1800" dirty="0"/>
              <a:t>Choose random k such that 1 &lt; k &lt; p-1</a:t>
            </a:r>
            <a:endParaRPr lang="en-IN" sz="1800" dirty="0"/>
          </a:p>
          <a:p>
            <a:pPr lvl="1"/>
            <a:r>
              <a:rPr lang="en-US" sz="1800" dirty="0"/>
              <a:t>Compute 	r = </a:t>
            </a:r>
            <a:r>
              <a:rPr lang="en-US" sz="1800" dirty="0" err="1"/>
              <a:t>g</a:t>
            </a:r>
            <a:r>
              <a:rPr lang="en-US" sz="1800" baseline="30000" dirty="0" err="1"/>
              <a:t>k</a:t>
            </a:r>
            <a:r>
              <a:rPr lang="en-US" sz="1800" dirty="0"/>
              <a:t> (mod p) </a:t>
            </a:r>
            <a:endParaRPr lang="en-IN" sz="1800" dirty="0"/>
          </a:p>
          <a:p>
            <a:pPr lvl="1"/>
            <a:r>
              <a:rPr lang="en-US" sz="1800" dirty="0"/>
              <a:t>Compute 	s =k</a:t>
            </a:r>
            <a:r>
              <a:rPr lang="en-US" sz="1800" baseline="30000" dirty="0"/>
              <a:t>-1</a:t>
            </a:r>
            <a:r>
              <a:rPr lang="en-US" sz="1800" dirty="0"/>
              <a:t> (H(M) – </a:t>
            </a:r>
            <a:r>
              <a:rPr lang="en-US" sz="1800" dirty="0" err="1"/>
              <a:t>xr</a:t>
            </a:r>
            <a:r>
              <a:rPr lang="en-US" sz="1800" dirty="0"/>
              <a:t>) (mod q) (such that q is a subgroup of p-1)</a:t>
            </a:r>
            <a:endParaRPr lang="en-IN" sz="1800" dirty="0"/>
          </a:p>
          <a:p>
            <a:r>
              <a:rPr lang="en-US" sz="2000" dirty="0"/>
              <a:t>The inverse k</a:t>
            </a:r>
            <a:r>
              <a:rPr lang="en-US" sz="2000" baseline="30000" dirty="0"/>
              <a:t>-1</a:t>
            </a:r>
            <a:r>
              <a:rPr lang="en-US" sz="2000" dirty="0"/>
              <a:t> exists if and only if</a:t>
            </a:r>
            <a:r>
              <a:rPr lang="en-US" sz="2000" b="1" dirty="0"/>
              <a:t> </a:t>
            </a:r>
            <a:r>
              <a:rPr lang="en-US" sz="2000" b="1" dirty="0" err="1"/>
              <a:t>gcd</a:t>
            </a:r>
            <a:r>
              <a:rPr lang="en-US" sz="2000" b="1" dirty="0"/>
              <a:t> (k, q) =1</a:t>
            </a:r>
            <a:r>
              <a:rPr lang="en-US" sz="2000" dirty="0"/>
              <a:t>.  </a:t>
            </a:r>
            <a:br>
              <a:rPr lang="en-US" sz="2000" dirty="0"/>
            </a:br>
            <a:r>
              <a:rPr lang="en-US" sz="2000" dirty="0"/>
              <a:t>Without invertibility, solving for s is no longer guaranteed.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7629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77B4-C826-133D-5BA8-B60C0BF4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Mathematical Analysis – proof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F3BD5-9567-487B-D5A8-94DD05472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81083"/>
            <a:ext cx="8825659" cy="4070555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>
                <a:solidFill>
                  <a:srgbClr val="7030A0"/>
                </a:solidFill>
              </a:rPr>
              <a:t>Failure when </a:t>
            </a:r>
            <a:r>
              <a:rPr lang="en-US" b="1" u="sng" dirty="0" err="1">
                <a:solidFill>
                  <a:srgbClr val="7030A0"/>
                </a:solidFill>
              </a:rPr>
              <a:t>gcd</a:t>
            </a:r>
            <a:r>
              <a:rPr lang="en-US" b="1" u="sng" dirty="0">
                <a:solidFill>
                  <a:srgbClr val="7030A0"/>
                </a:solidFill>
              </a:rPr>
              <a:t> (k, q) != 1</a:t>
            </a:r>
            <a:endParaRPr lang="en-IN" u="sng" dirty="0">
              <a:solidFill>
                <a:srgbClr val="7030A0"/>
              </a:solidFill>
            </a:endParaRPr>
          </a:p>
          <a:p>
            <a:pPr lvl="1"/>
            <a:r>
              <a:rPr lang="en-IN" dirty="0"/>
              <a:t>Number theory states that, </a:t>
            </a:r>
            <a:r>
              <a:rPr lang="en-US" dirty="0"/>
              <a:t>as ≅ b(mod n) has a solution if and only if </a:t>
            </a:r>
            <a:r>
              <a:rPr lang="en-US" dirty="0" err="1"/>
              <a:t>gcd</a:t>
            </a:r>
            <a:r>
              <a:rPr lang="en-US" dirty="0"/>
              <a:t> (</a:t>
            </a:r>
            <a:r>
              <a:rPr lang="en-US" dirty="0" err="1"/>
              <a:t>a,n</a:t>
            </a:r>
            <a:r>
              <a:rPr lang="en-US" dirty="0"/>
              <a:t>) | b. </a:t>
            </a:r>
          </a:p>
          <a:p>
            <a:pPr lvl="1"/>
            <a:r>
              <a:rPr lang="en-US" dirty="0"/>
              <a:t>Here:   a=k</a:t>
            </a:r>
            <a:br>
              <a:rPr lang="en-US" dirty="0"/>
            </a:br>
            <a:r>
              <a:rPr lang="en-US" dirty="0"/>
              <a:t>		n=p-1</a:t>
            </a:r>
            <a:br>
              <a:rPr lang="en-US" dirty="0"/>
            </a:br>
            <a:r>
              <a:rPr lang="en-US" dirty="0"/>
              <a:t>		b=H(M) – </a:t>
            </a:r>
            <a:r>
              <a:rPr lang="en-US" dirty="0" err="1"/>
              <a:t>xr</a:t>
            </a:r>
            <a:br>
              <a:rPr lang="en-US" dirty="0"/>
            </a:br>
            <a:r>
              <a:rPr lang="en-US" dirty="0"/>
              <a:t>		q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q | (p-1) </a:t>
            </a:r>
            <a:r>
              <a:rPr lang="en-US" dirty="0">
                <a:sym typeface="Wingdings" panose="05000000000000000000" pitchFamily="2" charset="2"/>
              </a:rPr>
              <a:t> Thus, a solution exists only if d | H(M) – x</a:t>
            </a:r>
            <a:endParaRPr lang="en-IN" dirty="0"/>
          </a:p>
          <a:p>
            <a:r>
              <a:rPr lang="en-US" dirty="0"/>
              <a:t>Case 1:  </a:t>
            </a:r>
            <a:r>
              <a:rPr lang="en-US" dirty="0">
                <a:highlight>
                  <a:srgbClr val="FFFF00"/>
                </a:highlight>
              </a:rPr>
              <a:t>d+ H(M) - </a:t>
            </a:r>
            <a:r>
              <a:rPr lang="en-US" dirty="0" err="1">
                <a:highlight>
                  <a:srgbClr val="FFFF00"/>
                </a:highlight>
              </a:rPr>
              <a:t>xr</a:t>
            </a:r>
            <a:r>
              <a:rPr lang="en-US" dirty="0">
                <a:highlight>
                  <a:srgbClr val="FFFF00"/>
                </a:highlight>
              </a:rPr>
              <a:t>  </a:t>
            </a:r>
            <a:r>
              <a:rPr lang="en-US" dirty="0"/>
              <a:t>- No solution exists. The signer cannot compute ‘s’. Authentication fails completely (Denial of Service condition)</a:t>
            </a:r>
          </a:p>
          <a:p>
            <a:r>
              <a:rPr lang="en-US" dirty="0"/>
              <a:t>Case 2:  </a:t>
            </a:r>
            <a:r>
              <a:rPr lang="en-US" dirty="0" err="1">
                <a:highlight>
                  <a:srgbClr val="00FF00"/>
                </a:highlight>
              </a:rPr>
              <a:t>d|H</a:t>
            </a:r>
            <a:r>
              <a:rPr lang="en-US" dirty="0">
                <a:highlight>
                  <a:srgbClr val="00FF00"/>
                </a:highlight>
              </a:rPr>
              <a:t>(M) – </a:t>
            </a:r>
            <a:r>
              <a:rPr lang="en-US" dirty="0" err="1">
                <a:highlight>
                  <a:srgbClr val="00FF00"/>
                </a:highlight>
              </a:rPr>
              <a:t>xr</a:t>
            </a:r>
            <a:r>
              <a:rPr lang="en-US" dirty="0"/>
              <a:t>  - There are ‘d’ distinct solutions </a:t>
            </a:r>
            <a:r>
              <a:rPr lang="en-US" dirty="0">
                <a:sym typeface="Wingdings" panose="05000000000000000000" pitchFamily="2" charset="2"/>
              </a:rPr>
              <a:t> leads to multiple possible ‘s’ values. The signature is weak and not unique.</a:t>
            </a:r>
          </a:p>
          <a:p>
            <a:r>
              <a:rPr lang="en-US" dirty="0">
                <a:sym typeface="Wingdings" panose="05000000000000000000" pitchFamily="2" charset="2"/>
              </a:rPr>
              <a:t>Result: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gcd</a:t>
            </a:r>
            <a:r>
              <a:rPr lang="en-US" dirty="0"/>
              <a:t>(k, q) </a:t>
            </a:r>
            <a:r>
              <a:rPr lang="en-US" b="1" dirty="0"/>
              <a:t>!=</a:t>
            </a:r>
            <a:r>
              <a:rPr lang="en-US" dirty="0"/>
              <a:t> 1, the signing equation</a:t>
            </a:r>
          </a:p>
          <a:p>
            <a:pPr lvl="2"/>
            <a:r>
              <a:rPr lang="en-US" dirty="0"/>
              <a:t>Has no solution</a:t>
            </a:r>
          </a:p>
          <a:p>
            <a:pPr lvl="2"/>
            <a:r>
              <a:rPr lang="en-US" dirty="0"/>
              <a:t>Has Multiple solutions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405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0261-91B5-B564-69B2-3D63F7BA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Mathematical Analysis – proof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9DCB8-927F-FCCB-498B-3B139F264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80442"/>
            <a:ext cx="8825659" cy="3839358"/>
          </a:xfrm>
        </p:spPr>
        <p:txBody>
          <a:bodyPr/>
          <a:lstStyle/>
          <a:p>
            <a:r>
              <a:rPr lang="en-US" sz="1700" b="1" u="sng" dirty="0">
                <a:solidFill>
                  <a:srgbClr val="7030A0"/>
                </a:solidFill>
              </a:rPr>
              <a:t>Correctness When </a:t>
            </a:r>
            <a:r>
              <a:rPr lang="en-US" sz="1700" b="1" u="sng" dirty="0" err="1">
                <a:solidFill>
                  <a:srgbClr val="7030A0"/>
                </a:solidFill>
              </a:rPr>
              <a:t>gcd</a:t>
            </a:r>
            <a:r>
              <a:rPr lang="en-US" sz="1700" b="1" u="sng" dirty="0">
                <a:solidFill>
                  <a:srgbClr val="7030A0"/>
                </a:solidFill>
              </a:rPr>
              <a:t>(k, p-1) = 1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0E62D-655F-D964-B93D-8C39EA63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920" y="2308262"/>
            <a:ext cx="4364859" cy="433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5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BB31-19AE-6F89-0866-A76CCB08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Mathematical Analysis – proof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648A-4520-5659-AD99-21969A782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102055"/>
            <a:ext cx="8825659" cy="3416300"/>
          </a:xfrm>
        </p:spPr>
        <p:txBody>
          <a:bodyPr/>
          <a:lstStyle/>
          <a:p>
            <a:r>
              <a:rPr lang="en-IN" sz="1700" b="1" u="sng" dirty="0" err="1">
                <a:solidFill>
                  <a:srgbClr val="7030A0"/>
                </a:solidFill>
              </a:rPr>
              <a:t>Resued</a:t>
            </a:r>
            <a:r>
              <a:rPr lang="en-IN" sz="1700" b="1" u="sng" dirty="0">
                <a:solidFill>
                  <a:srgbClr val="7030A0"/>
                </a:solidFill>
              </a:rPr>
              <a:t> Nonce Attack</a:t>
            </a:r>
            <a:r>
              <a:rPr lang="en-IN" dirty="0"/>
              <a:t>: </a:t>
            </a:r>
          </a:p>
          <a:p>
            <a:pPr lvl="1"/>
            <a:r>
              <a:rPr lang="en-IN" dirty="0"/>
              <a:t>Happens when the sender uses the same ‘k’ value to sign 2 different messages M1 and M2.</a:t>
            </a:r>
          </a:p>
          <a:p>
            <a:pPr lvl="1"/>
            <a:r>
              <a:rPr lang="en-US" dirty="0"/>
              <a:t>provides linear equations with two variables - can be solved using elimination method.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20E45-4AC8-B0B6-0F80-178B581A8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218" y="3429000"/>
            <a:ext cx="4210638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F128-BB46-2550-468F-81C7BC26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System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25EC21-82B8-5E9A-D2B7-EE9A5BBCE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201836"/>
              </p:ext>
            </p:extLst>
          </p:nvPr>
        </p:nvGraphicFramePr>
        <p:xfrm>
          <a:off x="2723535" y="2340077"/>
          <a:ext cx="6459795" cy="4257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1317">
                  <a:extLst>
                    <a:ext uri="{9D8B030D-6E8A-4147-A177-3AD203B41FA5}">
                      <a16:colId xmlns:a16="http://schemas.microsoft.com/office/drawing/2014/main" val="2257969880"/>
                    </a:ext>
                  </a:extLst>
                </a:gridCol>
                <a:gridCol w="2202425">
                  <a:extLst>
                    <a:ext uri="{9D8B030D-6E8A-4147-A177-3AD203B41FA5}">
                      <a16:colId xmlns:a16="http://schemas.microsoft.com/office/drawing/2014/main" val="2850801163"/>
                    </a:ext>
                  </a:extLst>
                </a:gridCol>
                <a:gridCol w="2576053">
                  <a:extLst>
                    <a:ext uri="{9D8B030D-6E8A-4147-A177-3AD203B41FA5}">
                      <a16:colId xmlns:a16="http://schemas.microsoft.com/office/drawing/2014/main" val="2886209543"/>
                    </a:ext>
                  </a:extLst>
                </a:gridCol>
              </a:tblGrid>
              <a:tr h="4875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Entity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Role in the System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Key Responsibilities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2222" marB="92222" anchor="ctr"/>
                </a:tc>
                <a:extLst>
                  <a:ext uri="{0D108BD9-81ED-4DB2-BD59-A6C34878D82A}">
                    <a16:rowId xmlns:a16="http://schemas.microsoft.com/office/drawing/2014/main" val="4235206906"/>
                  </a:ext>
                </a:extLst>
              </a:tr>
              <a:tr h="9580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Signer (Alice)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The Originator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Generates private key x and uses a unique random nonce k. This is used to compute the signatures (r,s).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2222" marB="92222" anchor="ctr"/>
                </a:tc>
                <a:extLst>
                  <a:ext uri="{0D108BD9-81ED-4DB2-BD59-A6C34878D82A}">
                    <a16:rowId xmlns:a16="http://schemas.microsoft.com/office/drawing/2014/main" val="4007097904"/>
                  </a:ext>
                </a:extLst>
              </a:tr>
              <a:tr h="7458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Verifier (Bob)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The Validator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Uses signer’s public key y = g</a:t>
                      </a:r>
                      <a:r>
                        <a:rPr lang="en-US" sz="700" kern="100" baseline="30000">
                          <a:effectLst/>
                        </a:rPr>
                        <a:t>x</a:t>
                      </a:r>
                      <a:r>
                        <a:rPr lang="en-US" sz="700" kern="100">
                          <a:effectLst/>
                        </a:rPr>
                        <a:t>modp and verifies the signature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2222" marB="92222" anchor="ctr"/>
                </a:tc>
                <a:extLst>
                  <a:ext uri="{0D108BD9-81ED-4DB2-BD59-A6C34878D82A}">
                    <a16:rowId xmlns:a16="http://schemas.microsoft.com/office/drawing/2014/main" val="3737317860"/>
                  </a:ext>
                </a:extLst>
              </a:tr>
              <a:tr h="7667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Key Generation Center (KGC)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Infrastructure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A large prime number p and g are selected according to cryptographic standards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2222" marB="92222" anchor="ctr"/>
                </a:tc>
                <a:extLst>
                  <a:ext uri="{0D108BD9-81ED-4DB2-BD59-A6C34878D82A}">
                    <a16:rowId xmlns:a16="http://schemas.microsoft.com/office/drawing/2014/main" val="420649203"/>
                  </a:ext>
                </a:extLst>
              </a:tr>
              <a:tr h="12991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Insecure Channel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>
                          <a:effectLst/>
                        </a:rPr>
                        <a:t>Medium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69167" marT="92222" marB="9222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 dirty="0">
                          <a:effectLst/>
                        </a:rPr>
                        <a:t>Interception attacks are made possible as attackers can observe multiple signature and can use reused nonce attack if ephemeral key k is not unique</a:t>
                      </a: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2222" marB="92222" anchor="ctr"/>
                </a:tc>
                <a:extLst>
                  <a:ext uri="{0D108BD9-81ED-4DB2-BD59-A6C34878D82A}">
                    <a16:rowId xmlns:a16="http://schemas.microsoft.com/office/drawing/2014/main" val="625502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908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52354-506B-CF46-6D9E-4580C7C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Attack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BE949-F18E-838F-66CA-9818E6914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2231923"/>
            <a:ext cx="9587323" cy="3787877"/>
          </a:xfrm>
        </p:spPr>
        <p:txBody>
          <a:bodyPr/>
          <a:lstStyle/>
          <a:p>
            <a:r>
              <a:rPr lang="en-IN" dirty="0"/>
              <a:t>2 kinds of security risks are modelled:</a:t>
            </a:r>
          </a:p>
          <a:p>
            <a:pPr lvl="1"/>
            <a:r>
              <a:rPr lang="en-US" dirty="0"/>
              <a:t>The use of a non-coprime </a:t>
            </a:r>
          </a:p>
          <a:p>
            <a:pPr marL="457200" lvl="1" indent="0">
              <a:buNone/>
            </a:pPr>
            <a:r>
              <a:rPr lang="en-US" dirty="0"/>
              <a:t>random nonce k</a:t>
            </a:r>
          </a:p>
          <a:p>
            <a:pPr lvl="1"/>
            <a:r>
              <a:rPr lang="en-US" dirty="0"/>
              <a:t>Reuse of the nonce which is </a:t>
            </a:r>
          </a:p>
          <a:p>
            <a:pPr marL="457200" lvl="1" indent="0">
              <a:buNone/>
            </a:pPr>
            <a:r>
              <a:rPr lang="en-US" dirty="0"/>
              <a:t>coprime with q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DF41C-2887-0830-CC18-6225BB0EF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91" y="2071439"/>
            <a:ext cx="4572000" cy="456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05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125C-A8AE-3C0D-4600-3CC7AB58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Implementation</a:t>
            </a:r>
            <a:br>
              <a:rPr lang="en-IN" dirty="0"/>
            </a:br>
            <a:r>
              <a:rPr lang="en-IN" sz="2400" dirty="0"/>
              <a:t>(screenshots)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1DCE4-9973-905F-E522-89BA1E2F7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Vulnerability attack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1DA60-2838-C479-A622-87E193040E95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E00EF-3123-1C12-43A5-17728A478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Prevention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F2F625-587E-4EA6-AF28-3F049D83EC27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92EB00-5863-03B9-3AA0-D1D5300FA0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Algorithm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856F98-63D1-259E-C8B9-1E2478AD3F42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26F316-6BA1-52A9-735E-06DF28D58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42" y="3179762"/>
            <a:ext cx="3891280" cy="3107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D9190F-88A3-0418-EF8E-7A725DBEE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21" y="3258779"/>
            <a:ext cx="3145537" cy="1028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00B88A-2C9D-9232-9C89-3D83B2D7C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580" y="3179761"/>
            <a:ext cx="3541289" cy="336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20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3AE8-AA48-DB2C-9C70-E6EEC406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C716-D51B-6F1E-4277-67BA8C8D6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k,q</a:t>
            </a:r>
            <a:r>
              <a:rPr lang="en-IN" dirty="0"/>
              <a:t>) == 1: </a:t>
            </a:r>
          </a:p>
          <a:p>
            <a:pPr marL="0" indent="0">
              <a:buNone/>
            </a:pPr>
            <a:r>
              <a:rPr lang="en-IN" dirty="0"/>
              <a:t>		</a:t>
            </a:r>
          </a:p>
          <a:p>
            <a:endParaRPr lang="en-IN" dirty="0"/>
          </a:p>
          <a:p>
            <a:r>
              <a:rPr lang="en-IN" dirty="0" err="1"/>
              <a:t>gcd</a:t>
            </a:r>
            <a:r>
              <a:rPr lang="en-IN" dirty="0"/>
              <a:t>(k, q) !=1: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3D8AF-4D02-95F1-E761-FD7787DAE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867" y="4644485"/>
            <a:ext cx="4023360" cy="829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B13C4B-4788-65A1-DF25-8641E8D18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867" y="3231080"/>
            <a:ext cx="3987800" cy="90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80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D4D7-2427-4F86-1926-EFA227F8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Graph-1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944F2E-B2B9-497D-3002-A88BA7C09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system runs 50 testcases of insecure and 50 testcases of secure signatures. The bar graph has identified 25/25 broken testcases and 23/25 forged testcases before Fix.</a:t>
            </a:r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fix: all 50/50 testcases were secure i.e. use of unique k and checking </a:t>
            </a:r>
            <a:r>
              <a:rPr lang="en-US" dirty="0" err="1"/>
              <a:t>gcd</a:t>
            </a:r>
            <a:r>
              <a:rPr lang="en-US" dirty="0"/>
              <a:t>(</a:t>
            </a:r>
            <a:r>
              <a:rPr lang="en-US" dirty="0" err="1"/>
              <a:t>k,q</a:t>
            </a:r>
            <a:r>
              <a:rPr lang="en-US" dirty="0"/>
              <a:t>) = 1</a:t>
            </a: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181B41-BEB0-9697-B296-49B1B3A6E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24" y="3468052"/>
            <a:ext cx="4897120" cy="168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58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1786-2124-87ED-1961-5BE9A57B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Graph-2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6688-1E95-4464-6A13-974189A45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Average sign time increases from 0.015 </a:t>
            </a:r>
            <a:r>
              <a:rPr lang="en-US" dirty="0" err="1"/>
              <a:t>ms</a:t>
            </a:r>
            <a:r>
              <a:rPr lang="en-US" dirty="0"/>
              <a:t> in 32 bit key size to 0.03 </a:t>
            </a:r>
            <a:r>
              <a:rPr lang="en-US" dirty="0" err="1"/>
              <a:t>ms</a:t>
            </a:r>
            <a:r>
              <a:rPr lang="en-US" dirty="0"/>
              <a:t> in 64 bit key size. This tells that as we increase key size, signing time also increases.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541B5-63CC-77DC-5357-D47920789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94" y="3823232"/>
            <a:ext cx="4866640" cy="178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58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5984F-53DC-CAA7-BD89-BA1CB45B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Graph-3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50529-B20E-F330-DC5D-A9F201868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runs 50 testcases of insecure and 50 testcases of secure signatures. Before fix the authentication success rate is 0% and after fix it became 100%.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A9F26D-2ABE-3929-2ACB-5D901F81F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96" y="4020953"/>
            <a:ext cx="4856480" cy="160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30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AE6D-427D-B369-A227-AB47C5F4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Graph-4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5BA7-C956-447A-7D3F-CB4DCFE5E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shows secure signing takes a slightly higher time than insecure cases. It adds a marginal latency of 0.0014 </a:t>
            </a:r>
            <a:r>
              <a:rPr lang="en-US" dirty="0" err="1"/>
              <a:t>ms</a:t>
            </a:r>
            <a:r>
              <a:rPr lang="en-US" dirty="0"/>
              <a:t> (0.0132 </a:t>
            </a:r>
            <a:r>
              <a:rPr lang="en-US" dirty="0" err="1"/>
              <a:t>ms</a:t>
            </a:r>
            <a:r>
              <a:rPr lang="en-US" dirty="0"/>
              <a:t> vs 0.0118 </a:t>
            </a:r>
            <a:r>
              <a:rPr lang="en-US" dirty="0" err="1"/>
              <a:t>ms</a:t>
            </a:r>
            <a:r>
              <a:rPr lang="en-US" dirty="0"/>
              <a:t>).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7B183-6D97-F7C1-D834-8C6DD4509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66" y="3729652"/>
            <a:ext cx="484632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49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AFFB-C537-E6D7-3F32-BD8256B06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B9923-9385-50D9-1887-91307BEFF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Despite the improved success rates, the current implementation has specific constraints:</a:t>
            </a:r>
            <a:endParaRPr lang="en-IN" dirty="0"/>
          </a:p>
          <a:p>
            <a:pPr lvl="0"/>
            <a:r>
              <a:rPr lang="en-US" b="1" dirty="0"/>
              <a:t>Scalability vs. Latency:</a:t>
            </a:r>
            <a:r>
              <a:rPr lang="en-US" dirty="0"/>
              <a:t> As shown in the "Signing Time vs Key Size" graph, increasing bit-length leads to exponential growth in computational overhead.</a:t>
            </a:r>
            <a:endParaRPr lang="en-IN" dirty="0"/>
          </a:p>
          <a:p>
            <a:pPr lvl="0"/>
            <a:r>
              <a:rPr lang="en-US" b="1" dirty="0"/>
              <a:t>Entropy Dependency:</a:t>
            </a:r>
            <a:r>
              <a:rPr lang="en-US" dirty="0"/>
              <a:t> The security of the "Unique k" approach relies entirely on the quality of the Random Number Generator (RNG); low-entropy seeds can still lead to predictable keys.</a:t>
            </a:r>
            <a:endParaRPr lang="en-IN" dirty="0"/>
          </a:p>
          <a:p>
            <a:pPr lvl="0"/>
            <a:r>
              <a:rPr lang="en-US" b="1" dirty="0"/>
              <a:t>Resource Constraints:</a:t>
            </a:r>
            <a:r>
              <a:rPr lang="en-US" dirty="0"/>
              <a:t> The additional $</a:t>
            </a:r>
            <a:r>
              <a:rPr lang="en-US" dirty="0" err="1"/>
              <a:t>gcd</a:t>
            </a:r>
            <a:r>
              <a:rPr lang="en-US" dirty="0"/>
              <a:t>$ checks and validation logic, while marginal in these tests, may impact performance on low-power IoT microcontrollers with limited clock speeds.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614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FFB1-F3F5-B7D2-C8E2-16364AA6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4721F-4DAF-CFD2-D04C-6D9F6B20C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By implementing the ‘</a:t>
            </a:r>
            <a:r>
              <a:rPr lang="en-IN" sz="2400" dirty="0" err="1"/>
              <a:t>gcd</a:t>
            </a:r>
            <a:r>
              <a:rPr lang="en-IN" sz="2400" dirty="0"/>
              <a:t>(k, q) =1’ requirement and ensuring uniqueness of the nonce key, </a:t>
            </a:r>
            <a:r>
              <a:rPr lang="en-US" sz="2400" dirty="0"/>
              <a:t>, the system achieved a </a:t>
            </a:r>
            <a:r>
              <a:rPr lang="en-US" sz="2400" b="1" dirty="0"/>
              <a:t>100% Authentication Success Rate</a:t>
            </a:r>
            <a:r>
              <a:rPr lang="en-US" sz="2400" dirty="0"/>
              <a:t> with a negligible latency increase of only </a:t>
            </a:r>
            <a:r>
              <a:rPr lang="en-US" sz="2400" b="1" dirty="0"/>
              <a:t>0.0014 </a:t>
            </a:r>
            <a:r>
              <a:rPr lang="en-US" sz="2400" b="1" dirty="0" err="1"/>
              <a:t>ms</a:t>
            </a:r>
            <a:r>
              <a:rPr lang="en-US" sz="2400" dirty="0" err="1"/>
              <a:t>.</a:t>
            </a:r>
            <a:endParaRPr lang="en-US" sz="2400" dirty="0"/>
          </a:p>
          <a:p>
            <a:r>
              <a:rPr lang="en-US" sz="2400" dirty="0"/>
              <a:t>While effective for the tested bit-lengths, future iterations must balance the increasing demand for higher bit-security with the linear rise in signing time to maintain optimal system performance.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614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311D-34A7-A55E-9F65-F49E9A495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EE60D-26E9-C0EA-1228-3D876F1CE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6308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</TotalTime>
  <Words>1160</Words>
  <Application>Microsoft Office PowerPoint</Application>
  <PresentationFormat>Widescreen</PresentationFormat>
  <Paragraphs>114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Agency FB</vt:lpstr>
      <vt:lpstr>Arial</vt:lpstr>
      <vt:lpstr>Calibri</vt:lpstr>
      <vt:lpstr>Cambria Math</vt:lpstr>
      <vt:lpstr>Century Gothic</vt:lpstr>
      <vt:lpstr>Wingdings</vt:lpstr>
      <vt:lpstr>Wingdings 3</vt:lpstr>
      <vt:lpstr>Ion Boardroom</vt:lpstr>
      <vt:lpstr>Elgamal Signature with Invalid Random k </vt:lpstr>
      <vt:lpstr>Abstract</vt:lpstr>
      <vt:lpstr>Elgamal Signature Scheme - Introduction</vt:lpstr>
      <vt:lpstr>Basic requirements</vt:lpstr>
      <vt:lpstr>Project insight</vt:lpstr>
      <vt:lpstr>Mathematical Insight</vt:lpstr>
      <vt:lpstr>Mathematical insight</vt:lpstr>
      <vt:lpstr>Mathematical analysis</vt:lpstr>
      <vt:lpstr>Mathematical Analysis – proof 1</vt:lpstr>
      <vt:lpstr>Mathematical Analysis – proof 2</vt:lpstr>
      <vt:lpstr>Mathematical Analysis – proof 3</vt:lpstr>
      <vt:lpstr>System Model</vt:lpstr>
      <vt:lpstr>Attack Model</vt:lpstr>
      <vt:lpstr>Implementation (screenshots) </vt:lpstr>
      <vt:lpstr>Results</vt:lpstr>
      <vt:lpstr>Graph-1</vt:lpstr>
      <vt:lpstr>Graph-2</vt:lpstr>
      <vt:lpstr>Graph-3</vt:lpstr>
      <vt:lpstr>Graph-4</vt:lpstr>
      <vt:lpstr>Constraints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Gayathri Ganesh</dc:creator>
  <cp:lastModifiedBy>Sandeep Ganesh</cp:lastModifiedBy>
  <cp:revision>22</cp:revision>
  <dcterms:created xsi:type="dcterms:W3CDTF">2026-03-30T01:15:47Z</dcterms:created>
  <dcterms:modified xsi:type="dcterms:W3CDTF">2026-03-30T03:07:21Z</dcterms:modified>
</cp:coreProperties>
</file>